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7" d="100"/>
          <a:sy n="137" d="100"/>
        </p:scale>
        <p:origin x="183" y="-9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94A3B8"/>
                </a:solidFill>
                <a:latin typeface="Arial"/>
              </a:rPr>
              <a:t>Model Comparison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8FAF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88.37</c:v>
                </c:pt>
                <c:pt idx="1">
                  <c:v>89</c:v>
                </c:pt>
                <c:pt idx="2">
                  <c:v>94</c:v>
                </c:pt>
                <c:pt idx="3">
                  <c:v>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93-4C42-B0D4-4EDEA8BCF0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8FAF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81.400000000000006</c:v>
                </c:pt>
                <c:pt idx="1">
                  <c:v>83</c:v>
                </c:pt>
                <c:pt idx="2">
                  <c:v>94</c:v>
                </c:pt>
                <c:pt idx="3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93-4C42-B0D4-4EDEA8BCF0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1E3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131E3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(%)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F8FAF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ssc_p</c:v>
                </c:pt>
                <c:pt idx="1">
                  <c:v>degree_p</c:v>
                </c:pt>
                <c:pt idx="2">
                  <c:v>hsc_p</c:v>
                </c:pt>
                <c:pt idx="3">
                  <c:v>mba_p</c:v>
                </c:pt>
                <c:pt idx="4">
                  <c:v>etest_p</c:v>
                </c:pt>
                <c:pt idx="5">
                  <c:v>workex</c:v>
                </c:pt>
                <c:pt idx="6">
                  <c:v>Spec_MktHR</c:v>
                </c:pt>
                <c:pt idx="7">
                  <c:v>gender</c:v>
                </c:pt>
                <c:pt idx="8">
                  <c:v>ssc_b</c:v>
                </c:pt>
                <c:pt idx="9">
                  <c:v>degree_t_Oth</c:v>
                </c:pt>
                <c:pt idx="10">
                  <c:v>degree_t_ST</c:v>
                </c:pt>
                <c:pt idx="11">
                  <c:v>hsc_b</c:v>
                </c:pt>
                <c:pt idx="12">
                  <c:v>hsc_s_Sci</c:v>
                </c:pt>
                <c:pt idx="13">
                  <c:v>hsc_s_Com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30.22</c:v>
                </c:pt>
                <c:pt idx="1">
                  <c:v>19.87</c:v>
                </c:pt>
                <c:pt idx="2">
                  <c:v>16.57</c:v>
                </c:pt>
                <c:pt idx="3">
                  <c:v>11.06</c:v>
                </c:pt>
                <c:pt idx="4">
                  <c:v>7.21</c:v>
                </c:pt>
                <c:pt idx="5">
                  <c:v>3.51</c:v>
                </c:pt>
                <c:pt idx="6">
                  <c:v>2.75</c:v>
                </c:pt>
                <c:pt idx="7">
                  <c:v>1.95</c:v>
                </c:pt>
                <c:pt idx="8">
                  <c:v>1.48</c:v>
                </c:pt>
                <c:pt idx="9">
                  <c:v>1.2</c:v>
                </c:pt>
                <c:pt idx="10">
                  <c:v>1.1499999999999999</c:v>
                </c:pt>
                <c:pt idx="11">
                  <c:v>1.1399999999999999</c:v>
                </c:pt>
                <c:pt idx="12">
                  <c:v>1.02</c:v>
                </c:pt>
                <c:pt idx="13">
                  <c:v>0.88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68-428A-A8DD-580F6AD9A1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1E30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31E3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94A3B8"/>
                </a:solidFill>
                <a:latin typeface="Arial"/>
              </a:rPr>
              <a:t>Placement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Placement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4D3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E0F-4B2A-BFA5-17D25B86B920}"/>
              </c:ext>
            </c:extLst>
          </c:dPt>
          <c:dPt>
            <c:idx val="1"/>
            <c:bubble3D val="0"/>
            <c:spPr>
              <a:solidFill>
                <a:srgbClr val="F871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E0F-4B2A-BFA5-17D25B86B92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E0F-4B2A-BFA5-17D25B86B92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E0F-4B2A-BFA5-17D25B86B92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Placed (68.84%)</c:v>
                </c:pt>
                <c:pt idx="1">
                  <c:v>Not Placed (31.16%)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148</c:v>
                </c:pt>
                <c:pt idx="1">
                  <c:v>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E0F-4B2A-BFA5-17D25B86B9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131E3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94A3B8"/>
                </a:solidFill>
                <a:latin typeface="Arial"/>
              </a:rPr>
              <a:t>Placement Rate by Work Experience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Placed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8FAF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With Work Exp.</c:v>
                </c:pt>
                <c:pt idx="1">
                  <c:v>Without Work Exp.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86.49</c:v>
                </c:pt>
                <c:pt idx="1">
                  <c:v>59.57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C7-42F5-9A8E-43887A3D142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1E30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31E3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4052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560320"/>
            <a:ext cx="3657600" cy="365760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3200400"/>
            <a:ext cx="2286000" cy="2286000"/>
          </a:xfrm>
          <a:prstGeom prst="ellipse">
            <a:avLst/>
          </a:prstGeom>
          <a:solidFill>
            <a:srgbClr val="34D399">
              <a:alpha val="10000"/>
            </a:srgbClr>
          </a:solidFill>
          <a:ln w="12700">
            <a:solidFill>
              <a:srgbClr val="34D399">
                <a:alpha val="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  <a:effectLst>
            <a:outerShdw blurRad="254000" dist="50800" dir="8100000" algn="bl" rotWithShape="0">
              <a:srgbClr val="3B82F6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Career Predictor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3291840" y="1874520"/>
            <a:ext cx="2560320" cy="411480"/>
          </a:xfrm>
          <a:prstGeom prst="roundRect">
            <a:avLst>
              <a:gd name="adj" fmla="val 22222"/>
            </a:avLst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874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EDITION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(ISE641)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2926080"/>
            <a:ext cx="6400800" cy="1005840"/>
          </a:xfrm>
          <a:prstGeom prst="rect">
            <a:avLst/>
          </a:prstGeom>
          <a:solidFill>
            <a:srgbClr val="131E30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71600" y="301752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Vinamra Tiwari</a:t>
            </a: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1MS23IS148   |   </a:t>
            </a: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Veerendra Desai</a:t>
            </a: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1MS23IS146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34290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Pushpalata M N  |  Dept. of ISE, Ramaiah Institute of Technology, Bengaluru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6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AI-Powered Placement Prediction Matters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131E30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99032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are increasingly evaluated on placement rates and average compensation. Yet traditional placement mechanisms operate reactively — interventions happen only after the academic cycle ends. This restricts career cells from proactively guiding struggling students or optimizing corporate alignments.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2514600"/>
            <a:ext cx="2697480" cy="1371600"/>
          </a:xfrm>
          <a:prstGeom prst="rect">
            <a:avLst/>
          </a:prstGeom>
          <a:solidFill>
            <a:srgbClr val="1A2A40"/>
          </a:solidFill>
          <a:ln w="12700">
            <a:solidFill>
              <a:srgbClr val="3B82F6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5786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294436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68.84%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349300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Placement Rate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27832" y="2514600"/>
            <a:ext cx="2697480" cy="1371600"/>
          </a:xfrm>
          <a:prstGeom prst="rect">
            <a:avLst/>
          </a:prstGeom>
          <a:solidFill>
            <a:srgbClr val="1A2A40"/>
          </a:solidFill>
          <a:ln w="12700">
            <a:solidFill>
              <a:srgbClr val="34D399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19272" y="25786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💼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64992" y="294436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86.5%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19272" y="349300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w/ Work Exp.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9904" y="2514600"/>
            <a:ext cx="2697480" cy="1371600"/>
          </a:xfrm>
          <a:prstGeom prst="rect">
            <a:avLst/>
          </a:prstGeom>
          <a:solidFill>
            <a:srgbClr val="1A2A40"/>
          </a:solidFill>
          <a:ln w="12700">
            <a:solidFill>
              <a:srgbClr val="FBBF24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81344" y="25786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27064" y="294436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₹2.88L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81344" y="349300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Base Salary (INR)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215 unique student profiles  |  Bengaluru-optimized model  |  KCET &amp; COMEDK integration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1170432"/>
          </a:xfrm>
          <a:prstGeom prst="rect">
            <a:avLst/>
          </a:prstGeom>
          <a:solidFill>
            <a:srgbClr val="131E30"/>
          </a:solidFill>
          <a:ln w="12700">
            <a:solidFill>
              <a:srgbClr val="F87171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73152" cy="11704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298448"/>
            <a:ext cx="585216" cy="585216"/>
          </a:xfrm>
          <a:prstGeom prst="ellipse">
            <a:avLst/>
          </a:prstGeom>
          <a:solidFill>
            <a:srgbClr val="F87171">
              <a:alpha val="20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29844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097280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Reactive Information Asymmetry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46304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remain unaware of placement vulnerabilities until final-year recruitment. Career cells cannot deploy targeted upskilling early enough to make a meaningful difference.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304288"/>
            <a:ext cx="8412480" cy="1170432"/>
          </a:xfrm>
          <a:prstGeom prst="rect">
            <a:avLst/>
          </a:prstGeom>
          <a:solidFill>
            <a:srgbClr val="131E30"/>
          </a:solidFill>
          <a:ln w="12700">
            <a:solidFill>
              <a:srgbClr val="FBBF24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04288"/>
            <a:ext cx="73152" cy="117043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2596896"/>
            <a:ext cx="585216" cy="585216"/>
          </a:xfrm>
          <a:prstGeom prst="ellipse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59689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2395728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Multi-Board Grade Calibration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2761488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span CBSE, ICSE/ISC, Karnataka SSLC &amp; PUC with different grading scales and CGPA vs. percentage systems. Standardizing these for coherent ML classification is a severe mathematical challenge.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602736"/>
            <a:ext cx="8412480" cy="1170432"/>
          </a:xfrm>
          <a:prstGeom prst="rect">
            <a:avLst/>
          </a:prstGeom>
          <a:solidFill>
            <a:srgbClr val="131E30"/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602736"/>
            <a:ext cx="73152" cy="1170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3895344"/>
            <a:ext cx="585216" cy="585216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895344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694176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Geographic Market Disconnect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80160" y="4059936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models ignore regional premiums. Bengaluru's tech ecosystem shows massive CS/IT salary premiums over core branches. KCET and COMEDK admission routes aren't captured in generic architectures.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3657600" cy="365760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6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Objectives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97480" cy="1783080"/>
          </a:xfrm>
          <a:prstGeom prst="rect">
            <a:avLst/>
          </a:prstGeom>
          <a:solidFill>
            <a:srgbClr val="131E30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75488" y="16002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 Pipeline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" y="193852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 for classifying student placement status with high analytical confidence using 80/20 train-test split.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18688" y="1005840"/>
            <a:ext cx="2697480" cy="1783080"/>
          </a:xfrm>
          <a:prstGeom prst="rect">
            <a:avLst/>
          </a:prstGeom>
          <a:solidFill>
            <a:srgbClr val="131E30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10128" y="109728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💹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28416" y="16002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Salary Regression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328416" y="193852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Accompanying regression model to project compensation brackets (INR ranges) enabling accurate career guidance for placed students.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71616" y="1005840"/>
            <a:ext cx="2697480" cy="1783080"/>
          </a:xfrm>
          <a:prstGeom prst="rect">
            <a:avLst/>
          </a:prstGeom>
          <a:solidFill>
            <a:srgbClr val="131E30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63056" y="109728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81344" y="16002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Importance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81344" y="193852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academic indicators (10th, 12th, UG scores, aptitude test) that correlate most significantly with recruitment outcomes.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2697480" cy="1783080"/>
          </a:xfrm>
          <a:prstGeom prst="rect">
            <a:avLst/>
          </a:prstGeom>
          <a:solidFill>
            <a:srgbClr val="131E30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06324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5488" y="35661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Full-Stack Deployment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5488" y="390448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UI (Predictor, Analytics, AI Counselor tabs) with decoupled Flask microservice backend and REST API.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18688" y="2971800"/>
            <a:ext cx="2697480" cy="1783080"/>
          </a:xfrm>
          <a:prstGeom prst="rect">
            <a:avLst/>
          </a:prstGeom>
          <a:solidFill>
            <a:srgbClr val="131E30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10128" y="306324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🏙️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328416" y="35661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Regional Enhancements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328416" y="390448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KCET/COMEDK admission route bonuses, Bengaluru tech-sector salary multipliers, and Gemini AI-powered career counseling.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71616" y="2971800"/>
            <a:ext cx="2697480" cy="1783080"/>
          </a:xfrm>
          <a:prstGeom prst="rect">
            <a:avLst/>
          </a:prstGeom>
          <a:solidFill>
            <a:srgbClr val="131E30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63056" y="306324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181344" y="35661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Intelligence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181344" y="390448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job feed via The Muse API and dynamic counselor fallback to localized knowledge for college cutoffs and fee structures.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Overview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215 student profiles  |  14 input features  |  2 prediction targets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8503920" cy="347472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" y="131673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04872" y="13167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67912" y="131673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627632"/>
            <a:ext cx="8503920" cy="338328"/>
          </a:xfrm>
          <a:prstGeom prst="rect">
            <a:avLst/>
          </a:prstGeom>
          <a:solidFill>
            <a:srgbClr val="131E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655064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404872" y="1655064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Cat.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67912" y="1655064"/>
            <a:ext cx="5102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gender: Male (1) / Female (0)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1975104"/>
            <a:ext cx="8503920" cy="338328"/>
          </a:xfrm>
          <a:prstGeom prst="rect">
            <a:avLst/>
          </a:prstGeom>
          <a:solidFill>
            <a:srgbClr val="1A2A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2002536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ssc_p / ssc_b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404872" y="2002536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Cont. / Cat.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67912" y="2002536"/>
            <a:ext cx="5102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10th Standard score (%) and board type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322576"/>
            <a:ext cx="8503920" cy="338328"/>
          </a:xfrm>
          <a:prstGeom prst="rect">
            <a:avLst/>
          </a:prstGeom>
          <a:solidFill>
            <a:srgbClr val="131E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235000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hsc_p / hsc_b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404872" y="2350008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Cont. / Cat.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67912" y="2350008"/>
            <a:ext cx="5102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12th Standard score (%) and board type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670048"/>
            <a:ext cx="8503920" cy="338328"/>
          </a:xfrm>
          <a:prstGeom prst="rect">
            <a:avLst/>
          </a:prstGeom>
          <a:solidFill>
            <a:srgbClr val="1A2A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269748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hsc_s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404872" y="269748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67912" y="2697480"/>
            <a:ext cx="5102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HSC stream: Science / Commerce / Arts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017520"/>
            <a:ext cx="8503920" cy="338328"/>
          </a:xfrm>
          <a:prstGeom prst="rect">
            <a:avLst/>
          </a:prstGeom>
          <a:solidFill>
            <a:srgbClr val="131E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" y="304495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degree_p / degree_t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404872" y="3044952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Cont. / Cat.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867912" y="3044952"/>
            <a:ext cx="5102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 score (%) and degree grouping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3364992"/>
            <a:ext cx="8503920" cy="338328"/>
          </a:xfrm>
          <a:prstGeom prst="rect">
            <a:avLst/>
          </a:prstGeom>
          <a:solidFill>
            <a:srgbClr val="1A2A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" y="3392424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workex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404872" y="3392424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Cat.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867912" y="3392424"/>
            <a:ext cx="5102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formal work experience: Yes (1) / No (0)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3712464"/>
            <a:ext cx="8503920" cy="338328"/>
          </a:xfrm>
          <a:prstGeom prst="rect">
            <a:avLst/>
          </a:prstGeom>
          <a:solidFill>
            <a:srgbClr val="131E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" y="3739896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etest_p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404872" y="3739896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867912" y="3739896"/>
            <a:ext cx="5102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Employability &amp; aptitude test score percentile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" y="4059936"/>
            <a:ext cx="8503920" cy="338328"/>
          </a:xfrm>
          <a:prstGeom prst="rect">
            <a:avLst/>
          </a:prstGeom>
          <a:solidFill>
            <a:srgbClr val="1A2A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" y="408736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mba_p / specialisation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404872" y="4087368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Cont. / Cat.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867912" y="4087368"/>
            <a:ext cx="5102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Postgrad score (%) and MBA domain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0040" y="4407408"/>
            <a:ext cx="8503920" cy="338328"/>
          </a:xfrm>
          <a:prstGeom prst="rect">
            <a:avLst/>
          </a:prstGeom>
          <a:solidFill>
            <a:srgbClr val="0A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3192" y="443484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404872" y="443484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(Binary)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867912" y="4434840"/>
            <a:ext cx="5102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= 1  |  Not Placed = 0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20040" y="4754880"/>
            <a:ext cx="8503920" cy="338328"/>
          </a:xfrm>
          <a:prstGeom prst="rect">
            <a:avLst/>
          </a:prstGeom>
          <a:solidFill>
            <a:srgbClr val="0A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3192" y="478231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404872" y="4782312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(Cont.)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867912" y="4782312"/>
            <a:ext cx="5102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compensation package offered (INR)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2697480" cy="3840480"/>
          </a:xfrm>
          <a:prstGeom prst="rect">
            <a:avLst/>
          </a:prstGeom>
          <a:solidFill>
            <a:srgbClr val="131E30"/>
          </a:solidFill>
          <a:ln w="12700">
            <a:solidFill>
              <a:srgbClr val="8B5CF6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960120"/>
            <a:ext cx="2697480" cy="475488"/>
          </a:xfrm>
          <a:prstGeom prst="rect">
            <a:avLst/>
          </a:prstGeom>
          <a:solidFill>
            <a:srgbClr val="8B5CF6">
              <a:alpha val="4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87552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User Interface Layer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29768" y="1554480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 Matrix (3-column form)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" y="2121408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 dashboard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2688336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Counselor chat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3255264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 ↔ Percentage toggle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3822192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with salary band display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72968" y="960120"/>
            <a:ext cx="2697480" cy="3840480"/>
          </a:xfrm>
          <a:prstGeom prst="rect">
            <a:avLst/>
          </a:prstGeom>
          <a:solidFill>
            <a:srgbClr val="131E30"/>
          </a:solidFill>
          <a:ln w="12700">
            <a:solidFill>
              <a:srgbClr val="3B82F6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960120"/>
            <a:ext cx="2697480" cy="475488"/>
          </a:xfrm>
          <a:prstGeom prst="rect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987552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Backend (Flask API)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82696" y="1554480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/api/predict  — classification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82696" y="2121408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 (salary)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82696" y="2688336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CGPA→% dynamic conversion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82696" y="3255264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KCET/COMEDK bonus layer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82696" y="3822192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SimpleImputer for missing fields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25896" y="960120"/>
            <a:ext cx="2697480" cy="3840480"/>
          </a:xfrm>
          <a:prstGeom prst="rect">
            <a:avLst/>
          </a:prstGeom>
          <a:solidFill>
            <a:srgbClr val="131E30"/>
          </a:solidFill>
          <a:ln w="12700">
            <a:solidFill>
              <a:srgbClr val="34D399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25896" y="960120"/>
            <a:ext cx="2697480" cy="475488"/>
          </a:xfrm>
          <a:prstGeom prst="rect">
            <a:avLst/>
          </a:prstGeom>
          <a:solidFill>
            <a:srgbClr val="34D399">
              <a:alpha val="4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17336" y="987552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Intelligence Layer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135624" y="1554480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Classifier (200 trees, depth=10)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35624" y="2121408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Regressor for salary bands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35624" y="2688336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Pro LLM integration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35624" y="3255264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Muse API (live job feed)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35624" y="3822192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salary multipliers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017520" y="2971800"/>
            <a:ext cx="365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70448" y="2971800"/>
            <a:ext cx="365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CORS middleware  |  scikit-learn v1.x  |  Google Gemini Pro  |  The Muse API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Preprocessing &amp; ML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4206240" cy="1234440"/>
          </a:xfrm>
          <a:prstGeom prst="rect">
            <a:avLst/>
          </a:prstGeom>
          <a:solidFill>
            <a:srgbClr val="131E30"/>
          </a:solidFill>
          <a:ln w="12700">
            <a:solidFill>
              <a:srgbClr val="3B82F6">
                <a:alpha val="3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280160"/>
            <a:ext cx="548640" cy="548640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0332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Raw 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399032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215 student profiles loaded from CSV. Salary nulls filled with 0.0 (unplaced records). Serial number (sl_no) dropped.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206240" cy="1234440"/>
          </a:xfrm>
          <a:prstGeom prst="rect">
            <a:avLst/>
          </a:prstGeom>
          <a:solidFill>
            <a:srgbClr val="131E30"/>
          </a:solidFill>
          <a:ln w="12700">
            <a:solidFill>
              <a:srgbClr val="8B5CF6">
                <a:alpha val="3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280160"/>
            <a:ext cx="548640" cy="548640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0" y="10332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Encode Categoricals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0" y="1399032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mapping: gender (M→1, F→0), workex (Yes→1), ssc_b &amp; hsc_b (Central→1). Status: Placed→1.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331720"/>
            <a:ext cx="4206240" cy="1234440"/>
          </a:xfrm>
          <a:prstGeom prst="rect">
            <a:avLst/>
          </a:prstGeom>
          <a:solidFill>
            <a:srgbClr val="131E30"/>
          </a:solidFill>
          <a:ln w="12700">
            <a:solidFill>
              <a:srgbClr val="FBBF24">
                <a:alpha val="3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651760"/>
            <a:ext cx="548640" cy="548640"/>
          </a:xfrm>
          <a:prstGeom prst="ellipse">
            <a:avLst/>
          </a:prstGeom>
          <a:solidFill>
            <a:srgbClr val="FBBF24">
              <a:alpha val="3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4048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One-Hot Encoding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2770632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Multi-category cols (hsc_s, degree_t, specialisation) expanded via pd.get_dummies(drop_first=True). Bool → int cast.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2331720"/>
            <a:ext cx="4206240" cy="1234440"/>
          </a:xfrm>
          <a:prstGeom prst="rect">
            <a:avLst/>
          </a:prstGeom>
          <a:solidFill>
            <a:srgbClr val="131E30"/>
          </a:solidFill>
          <a:ln w="12700">
            <a:solidFill>
              <a:srgbClr val="34D399">
                <a:alpha val="3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651760"/>
            <a:ext cx="548640" cy="548640"/>
          </a:xfrm>
          <a:prstGeom prst="ellipse">
            <a:avLst/>
          </a:prstGeom>
          <a:solidFill>
            <a:srgbClr val="34D399">
              <a:alpha val="3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0" y="24048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Train-Test Split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0" y="2770632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split (random_state=42). StandardScaler applied for Logistic Regression only.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703320"/>
            <a:ext cx="4206240" cy="1234440"/>
          </a:xfrm>
          <a:prstGeom prst="rect">
            <a:avLst/>
          </a:prstGeom>
          <a:solidFill>
            <a:srgbClr val="131E30"/>
          </a:solidFill>
          <a:ln w="12700">
            <a:solidFill>
              <a:srgbClr val="F87171">
                <a:alpha val="3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4023360"/>
            <a:ext cx="548640" cy="548640"/>
          </a:xfrm>
          <a:prstGeom prst="ellipse">
            <a:avLst/>
          </a:prstGeom>
          <a:solidFill>
            <a:srgbClr val="F87171">
              <a:alpha val="30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" y="37764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Classifier Training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4142232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Classifier: 200 trees, max_depth=10. Logistic Regression with scaled features as benchmark.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3703320"/>
            <a:ext cx="4206240" cy="1234440"/>
          </a:xfrm>
          <a:prstGeom prst="rect">
            <a:avLst/>
          </a:prstGeom>
          <a:solidFill>
            <a:srgbClr val="131E30"/>
          </a:solidFill>
          <a:ln w="12700">
            <a:solidFill>
              <a:srgbClr val="3B82F6">
                <a:alpha val="3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4023360"/>
            <a:ext cx="548640" cy="548640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0" y="37764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Regressor Training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0" y="4142232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RF Regressor trained exclusively on placed-student subset (status=1) for salary range prediction.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Model Benchmarking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4114800" cy="1737360"/>
          </a:xfrm>
          <a:prstGeom prst="rect">
            <a:avLst/>
          </a:prstGeom>
          <a:solidFill>
            <a:srgbClr val="131E30"/>
          </a:solidFill>
          <a:ln w="12700">
            <a:solidFill>
              <a:srgbClr val="3B82F6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1005840"/>
            <a:ext cx="4114800" cy="384048"/>
          </a:xfrm>
          <a:prstGeom prst="rect">
            <a:avLst/>
          </a:prstGeom>
          <a:solidFill>
            <a:srgbClr val="3B82F6">
              <a:alpha val="5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 Regression (Scaled)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88.37%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44752" y="1554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0.89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44752" y="205740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32304" y="1554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432304" y="205740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19856" y="1554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19856" y="205740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4114800" cy="1737360"/>
          </a:xfrm>
          <a:prstGeom prst="rect">
            <a:avLst/>
          </a:prstGeom>
          <a:solidFill>
            <a:srgbClr val="131E30"/>
          </a:solidFill>
          <a:ln w="12700">
            <a:solidFill>
              <a:srgbClr val="8B5CF6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26080"/>
            <a:ext cx="4114800" cy="384048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7180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 Classifier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3474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81.40%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397764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44752" y="3474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44752" y="397764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32304" y="3474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432304" y="397764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19856" y="3474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0.88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419856" y="397764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4663440" y="960120"/>
          <a:ext cx="42976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Shape 23"/>
          <p:cNvSpPr/>
          <p:nvPr/>
        </p:nvSpPr>
        <p:spPr>
          <a:xfrm>
            <a:off x="320040" y="4617720"/>
            <a:ext cx="4114800" cy="365760"/>
          </a:xfrm>
          <a:prstGeom prst="rect">
            <a:avLst/>
          </a:prstGeom>
          <a:solidFill>
            <a:srgbClr val="0A2040"/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" y="4663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Logistic Regression achieves higher overall accuracy (88.37%) on the 43-sample test set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Importance Analysis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ensemble weight distribution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1188720"/>
          <a:ext cx="53035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1170432"/>
            <a:ext cx="3017520" cy="640080"/>
          </a:xfrm>
          <a:prstGeom prst="rect">
            <a:avLst/>
          </a:prstGeom>
          <a:solidFill>
            <a:srgbClr val="131E30"/>
          </a:solidFill>
          <a:ln w="12700">
            <a:solidFill>
              <a:srgbClr val="34D399">
                <a:alpha val="3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06440" y="1170432"/>
            <a:ext cx="54864" cy="6400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88736" y="1216152"/>
            <a:ext cx="4754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382512" y="12070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ssc_p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382512" y="149961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30.22%  —  10th board marks — single strongest predictor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806440" y="1901952"/>
            <a:ext cx="3017520" cy="640080"/>
          </a:xfrm>
          <a:prstGeom prst="rect">
            <a:avLst/>
          </a:prstGeom>
          <a:solidFill>
            <a:srgbClr val="131E30"/>
          </a:solidFill>
          <a:ln w="12700">
            <a:solidFill>
              <a:srgbClr val="3B82F6">
                <a:alpha val="3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06440" y="1901952"/>
            <a:ext cx="54864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88736" y="1947672"/>
            <a:ext cx="4754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382512" y="19385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degree_p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382512" y="223113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19.87%  —  Undergrad score — second key indicator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806440" y="2633472"/>
            <a:ext cx="3017520" cy="640080"/>
          </a:xfrm>
          <a:prstGeom prst="rect">
            <a:avLst/>
          </a:prstGeom>
          <a:solidFill>
            <a:srgbClr val="131E30"/>
          </a:solidFill>
          <a:ln w="12700">
            <a:solidFill>
              <a:srgbClr val="8B5CF6">
                <a:alpha val="3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06440" y="2633472"/>
            <a:ext cx="54864" cy="640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88736" y="2679192"/>
            <a:ext cx="4754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382512" y="26700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hsc_p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382512" y="296265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16.57%  —  12th standard marks — rounds top 3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806440" y="3364992"/>
            <a:ext cx="3017520" cy="640080"/>
          </a:xfrm>
          <a:prstGeom prst="rect">
            <a:avLst/>
          </a:prstGeom>
          <a:solidFill>
            <a:srgbClr val="131E30"/>
          </a:solidFill>
          <a:ln w="12700">
            <a:solidFill>
              <a:srgbClr val="FBBF24">
                <a:alpha val="3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806440" y="3364992"/>
            <a:ext cx="54864" cy="6400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88736" y="3410712"/>
            <a:ext cx="4754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#4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382512" y="34015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mba_p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382512" y="36941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11.06%  —  Postgraduate performance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806440" y="4096512"/>
            <a:ext cx="3017520" cy="640080"/>
          </a:xfrm>
          <a:prstGeom prst="rect">
            <a:avLst/>
          </a:prstGeom>
          <a:solidFill>
            <a:srgbClr val="131E30"/>
          </a:solidFill>
          <a:ln w="12700">
            <a:solidFill>
              <a:srgbClr val="F87171">
                <a:alpha val="3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806440" y="4096512"/>
            <a:ext cx="54864" cy="6400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88736" y="4142232"/>
            <a:ext cx="4754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#5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382512" y="41330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etest_p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6382512" y="442569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7.21%  —  Employability test percentile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806440" y="4663440"/>
            <a:ext cx="3017520" cy="384048"/>
          </a:xfrm>
          <a:prstGeom prst="rect">
            <a:avLst/>
          </a:prstGeom>
          <a:solidFill>
            <a:srgbClr val="0A2040"/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70448" y="464515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academic scores control 66.6% of model weight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Exploratory Data Analysis — Key Findings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274320" y="1005840"/>
          <a:ext cx="40233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4572000" y="1005840"/>
          <a:ext cx="42976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Shape 1"/>
          <p:cNvSpPr/>
          <p:nvPr/>
        </p:nvSpPr>
        <p:spPr>
          <a:xfrm>
            <a:off x="320040" y="4114800"/>
            <a:ext cx="1920240" cy="822960"/>
          </a:xfrm>
          <a:prstGeom prst="rect">
            <a:avLst/>
          </a:prstGeom>
          <a:solidFill>
            <a:srgbClr val="1A2A40"/>
          </a:solidFill>
          <a:ln w="12700">
            <a:solidFill>
              <a:srgbClr val="3B82F6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320040" y="4160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139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320040" y="4572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students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2468880" y="4114800"/>
            <a:ext cx="1920240" cy="822960"/>
          </a:xfrm>
          <a:prstGeom prst="rect">
            <a:avLst/>
          </a:prstGeom>
          <a:solidFill>
            <a:srgbClr val="1A2A40"/>
          </a:solidFill>
          <a:ln w="12700">
            <a:solidFill>
              <a:srgbClr val="8B5CF6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2468880" y="4160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76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2468880" y="4572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students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617720" y="4114800"/>
            <a:ext cx="1920240" cy="822960"/>
          </a:xfrm>
          <a:prstGeom prst="rect">
            <a:avLst/>
          </a:prstGeom>
          <a:solidFill>
            <a:srgbClr val="1A2A40"/>
          </a:solidFill>
          <a:ln w="12700">
            <a:solidFill>
              <a:srgbClr val="34D399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617720" y="4160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148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617720" y="4572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(total)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766560" y="4114800"/>
            <a:ext cx="1920240" cy="822960"/>
          </a:xfrm>
          <a:prstGeom prst="rect">
            <a:avLst/>
          </a:prstGeom>
          <a:solidFill>
            <a:srgbClr val="1A2A40"/>
          </a:solidFill>
          <a:ln w="12700">
            <a:solidFill>
              <a:srgbClr val="F87171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766560" y="4160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67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6766560" y="4572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placed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4572000" cy="4572000"/>
          </a:xfrm>
          <a:prstGeom prst="ellipse">
            <a:avLst/>
          </a:prstGeom>
          <a:solidFill>
            <a:srgbClr val="8B5CF6">
              <a:alpha val="8000"/>
            </a:srgbClr>
          </a:solidFill>
          <a:ln w="12700">
            <a:solidFill>
              <a:srgbClr val="8B5CF6">
                <a:alpha val="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Application Features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Three-tab full-stack deployment  |  Flask REST API  |  Bengaluru-optimized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2697480" cy="3611880"/>
          </a:xfrm>
          <a:prstGeom prst="rect">
            <a:avLst/>
          </a:prstGeom>
          <a:solidFill>
            <a:srgbClr val="131E30"/>
          </a:solidFill>
          <a:ln w="12700">
            <a:solidFill>
              <a:srgbClr val="3B82F6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98448"/>
            <a:ext cx="2697480" cy="475488"/>
          </a:xfrm>
          <a:prstGeom prst="rect">
            <a:avLst/>
          </a:prstGeom>
          <a:solidFill>
            <a:srgbClr val="3B82F6">
              <a:alpha val="5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6245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🔮 Predictor Matrix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892808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 ↔ Percentage toggle (CGPA × 9.5)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49631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10th, 12th, UG, MBA score inputs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3099816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KCET / COMEDK / JEE admission route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3703320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experience &amp; specialisation flags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4306824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probability + salary band output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72968" y="1298448"/>
            <a:ext cx="2697480" cy="3611880"/>
          </a:xfrm>
          <a:prstGeom prst="rect">
            <a:avLst/>
          </a:prstGeom>
          <a:solidFill>
            <a:srgbClr val="131E30"/>
          </a:solidFill>
          <a:ln w="12700">
            <a:solidFill>
              <a:srgbClr val="34D399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1298448"/>
            <a:ext cx="2697480" cy="475488"/>
          </a:xfrm>
          <a:prstGeom prst="rect">
            <a:avLst/>
          </a:prstGeom>
          <a:solidFill>
            <a:srgbClr val="34D399">
              <a:alpha val="5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136245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Real-Time Analytics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64408" y="1892808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job feed via The Muse API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64408" y="249631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RVCE/BMSCE CS avg: ₹18.5 LPA (+12% YoY)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64408" y="3099816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COMEDK top-10 placements: 92.4%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64408" y="3703320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KCET core branch avg: ₹7.2 LPA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64408" y="4306824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Tech-sector KPI cards (live data)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25896" y="1298448"/>
            <a:ext cx="2697480" cy="3611880"/>
          </a:xfrm>
          <a:prstGeom prst="rect">
            <a:avLst/>
          </a:prstGeom>
          <a:solidFill>
            <a:srgbClr val="131E30"/>
          </a:solidFill>
          <a:ln w="12700">
            <a:solidFill>
              <a:srgbClr val="8B5CF6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25896" y="1298448"/>
            <a:ext cx="2697480" cy="475488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17336" y="136245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AI Career Counselor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17336" y="1892808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Pro API integration (user key)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17336" y="249631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fallback agent for KCET/COMEDK queries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17336" y="3099816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cutoff answers (RVCE, BMSCE, MSRIT)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17336" y="3703320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tier info: ₹80K–1L (KCET) vs ₹2.5–3L (COMEDK)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17336" y="4306824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chat with history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371600" y="4754880"/>
            <a:ext cx="6400800" cy="310896"/>
          </a:xfrm>
          <a:prstGeom prst="roundRect">
            <a:avLst>
              <a:gd name="adj" fmla="val 17647"/>
            </a:avLst>
          </a:prstGeom>
          <a:solidFill>
            <a:srgbClr val="1A2A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0" y="47731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HTML / CSS / Vanilla JS  |  Flask + CORS  |  scikit-learn  |  Google Gemini Pro  |  Python 3.x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Bengaluru-Specific Enhancements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market calibration for Karnataka's Silicon Valley ecosystem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8503920" cy="1143000"/>
          </a:xfrm>
          <a:prstGeom prst="rect">
            <a:avLst/>
          </a:prstGeom>
          <a:solidFill>
            <a:srgbClr val="131E30"/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80160"/>
            <a:ext cx="73152" cy="1143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3502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KCET / COMEDK CS/IT Probability Bonus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3840480" cy="384048"/>
          </a:xfrm>
          <a:prstGeom prst="rect">
            <a:avLst/>
          </a:prstGeom>
          <a:solidFill>
            <a:srgbClr val="0A2040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282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P_final = min(1.0, P_model + 0.08)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1371600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from KCET/COMEDK in B.E./B.Tech CS/IT receive an 8% bonus on their base probability, reflecting Bengaluru's high-demand tech cluster.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542032"/>
            <a:ext cx="8503920" cy="1143000"/>
          </a:xfrm>
          <a:prstGeom prst="rect">
            <a:avLst/>
          </a:prstGeom>
          <a:solidFill>
            <a:srgbClr val="131E30"/>
          </a:solidFill>
          <a:ln w="12700">
            <a:solidFill>
              <a:srgbClr val="34D399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542032"/>
            <a:ext cx="73152" cy="1143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596896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CS/IT Tech-Sector Salary Multiplier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953512"/>
            <a:ext cx="3840480" cy="384048"/>
          </a:xfrm>
          <a:prstGeom prst="rect">
            <a:avLst/>
          </a:prstGeom>
          <a:solidFill>
            <a:srgbClr val="0A2040"/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99008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Salary_final = Salary_base × 1.45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2633472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CS/IT profiles via KCET or COMEDK receive a 45% salary uplift to reflect Bengaluru tech park premiums (Whitefield, Manyata, Electronic City).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803904"/>
            <a:ext cx="8503920" cy="1143000"/>
          </a:xfrm>
          <a:prstGeom prst="rect">
            <a:avLst/>
          </a:prstGeom>
          <a:solidFill>
            <a:srgbClr val="131E30"/>
          </a:solidFill>
          <a:ln w="12700">
            <a:solidFill>
              <a:srgbClr val="FBBF24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803904"/>
            <a:ext cx="73152" cy="11430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85876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Karnataka Board Regional Stabilizer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4215384"/>
            <a:ext cx="3840480" cy="384048"/>
          </a:xfrm>
          <a:prstGeom prst="rect">
            <a:avLst/>
          </a:prstGeom>
          <a:solidFill>
            <a:srgbClr val="0A2040"/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25196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Salary_adjusted = Salary_base × 1.15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0" y="3895344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from Karnataka SSLC/PUC boards receive a 15% salary calibration to align with local market hiring rates and government sector premiums.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&amp; Future Scope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4069080" cy="384048"/>
          </a:xfrm>
          <a:prstGeom prst="rect">
            <a:avLst/>
          </a:prstGeom>
          <a:solidFill>
            <a:srgbClr val="F87171">
              <a:alpha val="40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50976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Current Limitations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069080" cy="960120"/>
          </a:xfrm>
          <a:prstGeom prst="rect">
            <a:avLst/>
          </a:prstGeom>
          <a:solidFill>
            <a:srgbClr val="131E30"/>
          </a:solidFill>
          <a:ln w="12700">
            <a:solidFill>
              <a:srgbClr val="F87171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7218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 Dataset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80136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215 records may amplify structural bias for atypical profiles.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514600"/>
            <a:ext cx="4069080" cy="960120"/>
          </a:xfrm>
          <a:prstGeom prst="rect">
            <a:avLst/>
          </a:prstGeom>
          <a:solidFill>
            <a:srgbClr val="131E30"/>
          </a:solidFill>
          <a:ln w="12700">
            <a:solidFill>
              <a:srgbClr val="F87171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56946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Qualitative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89864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portfolio, hackathon rankings, communication skills absent.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3611880"/>
            <a:ext cx="4069080" cy="960120"/>
          </a:xfrm>
          <a:prstGeom prst="rect">
            <a:avLst/>
          </a:prstGeom>
          <a:solidFill>
            <a:srgbClr val="131E30"/>
          </a:solidFill>
          <a:ln w="12700">
            <a:solidFill>
              <a:srgbClr val="F87171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66674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Geographic Lock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99592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Multipliers calibrated for Bengaluru 2026 only — not portable.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914400"/>
            <a:ext cx="4069080" cy="384048"/>
          </a:xfrm>
          <a:prstGeom prst="rect">
            <a:avLst/>
          </a:prstGeom>
          <a:solidFill>
            <a:srgbClr val="34D399">
              <a:alpha val="4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950976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Future Scope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417320"/>
            <a:ext cx="4069080" cy="960120"/>
          </a:xfrm>
          <a:prstGeom prst="rect">
            <a:avLst/>
          </a:prstGeom>
          <a:solidFill>
            <a:srgbClr val="131E30"/>
          </a:solidFill>
          <a:ln w="12700">
            <a:solidFill>
              <a:srgbClr val="34D399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147218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NLP Resume Parser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180136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Auto-extract skills, projects &amp; experience from resumes &amp; LinkedIn.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514600"/>
            <a:ext cx="4069080" cy="960120"/>
          </a:xfrm>
          <a:prstGeom prst="rect">
            <a:avLst/>
          </a:prstGeom>
          <a:solidFill>
            <a:srgbClr val="131E30"/>
          </a:solidFill>
          <a:ln w="12700">
            <a:solidFill>
              <a:srgbClr val="34D399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256946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Geo-Matrix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289864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economic adjustment replacing static Bengaluru multipliers.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611880"/>
            <a:ext cx="4069080" cy="960120"/>
          </a:xfrm>
          <a:prstGeom prst="rect">
            <a:avLst/>
          </a:prstGeom>
          <a:solidFill>
            <a:srgbClr val="131E30"/>
          </a:solidFill>
          <a:ln w="12700">
            <a:solidFill>
              <a:srgbClr val="34D399">
                <a:alpha val="3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37760" y="366674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Neural Network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399592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DNN for simultaneous placement + career path prediction.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1828800"/>
            <a:ext cx="4572000" cy="457200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  <a:effectLst>
            <a:outerShdw blurRad="228600" dist="38100" dir="8100000" algn="bl" rotWithShape="0">
              <a:srgbClr val="3B82F6">
                <a:alpha val="4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Placement Engine (Bengaluru Edition) successfully transforms raw institutional data into forward-looking career insights — eliminating information gaps, optimizing resource allocation, and enhancing graduate employment outcomes.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2057400"/>
            <a:ext cx="1965960" cy="1920240"/>
          </a:xfrm>
          <a:prstGeom prst="rect">
            <a:avLst/>
          </a:prstGeom>
          <a:solidFill>
            <a:srgbClr val="131E30"/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212140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267004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88.37% Accuracy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3072384"/>
            <a:ext cx="18196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model on test set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2057400"/>
            <a:ext cx="1965960" cy="1920240"/>
          </a:xfrm>
          <a:prstGeom prst="rect">
            <a:avLst/>
          </a:prstGeom>
          <a:solidFill>
            <a:srgbClr val="131E30"/>
          </a:solidFill>
          <a:ln w="12700">
            <a:solidFill>
              <a:srgbClr val="34D399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0" y="212140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51760" y="267004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66.6% from Academics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33472" y="3072384"/>
            <a:ext cx="18196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marks dominate model weight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2057400"/>
            <a:ext cx="1965960" cy="1920240"/>
          </a:xfrm>
          <a:prstGeom prst="rect">
            <a:avLst/>
          </a:prstGeom>
          <a:solidFill>
            <a:srgbClr val="131E30"/>
          </a:solidFill>
          <a:ln w="12700">
            <a:solidFill>
              <a:srgbClr val="8B5CF6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212140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🏙️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00600" y="267004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Bengaluru Calibrated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82312" y="3072384"/>
            <a:ext cx="18196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KCET/COMEDK + tech-sector multipliers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2057400"/>
            <a:ext cx="1965960" cy="1920240"/>
          </a:xfrm>
          <a:prstGeom prst="rect">
            <a:avLst/>
          </a:prstGeom>
          <a:solidFill>
            <a:srgbClr val="131E30"/>
          </a:solidFill>
          <a:ln w="12700">
            <a:solidFill>
              <a:srgbClr val="FBBF24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0" y="212140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49440" y="267004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Counselor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31152" y="3072384"/>
            <a:ext cx="18196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Pro + local fallback agent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160520"/>
            <a:ext cx="8412480" cy="777240"/>
          </a:xfrm>
          <a:prstGeom prst="rect">
            <a:avLst/>
          </a:prstGeom>
          <a:solidFill>
            <a:srgbClr val="131E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206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4805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Pedregosa et al. (2011) Scikit-learn  |  Grinberg (2018) Flask Web Development  |  Google Generative AI Docs (2026)  |  KEA &amp; COMEDK Statistical Archives (2025)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926080" y="477316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1526</Words>
  <Application>Microsoft Office PowerPoint</Application>
  <PresentationFormat>On-screen Show (16:9)</PresentationFormat>
  <Paragraphs>249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Career Predictor - Bengaluru Edition</dc:title>
  <dc:subject>PptxGenJS Presentation</dc:subject>
  <dc:creator>PptxGenJS</dc:creator>
  <cp:lastModifiedBy>Veerendra Desai</cp:lastModifiedBy>
  <cp:revision>2</cp:revision>
  <dcterms:created xsi:type="dcterms:W3CDTF">2026-05-18T09:38:32Z</dcterms:created>
  <dcterms:modified xsi:type="dcterms:W3CDTF">2026-05-18T09:44:16Z</dcterms:modified>
</cp:coreProperties>
</file>